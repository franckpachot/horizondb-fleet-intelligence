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FD943-B85E-4DB5-958B-ABA81CE4DB11}" type="datetimeFigureOut">
              <a:rPr lang="en-CH" smtClean="0"/>
              <a:t>09.09.2026</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46AD91-B378-4391-BC56-E82DC6506350}" type="slidenum">
              <a:rPr lang="en-CH" smtClean="0"/>
              <a:t>‹#›</a:t>
            </a:fld>
            <a:endParaRPr lang="en-CH"/>
          </a:p>
        </p:txBody>
      </p:sp>
    </p:spTree>
    <p:extLst>
      <p:ext uri="{BB962C8B-B14F-4D97-AF65-F5344CB8AC3E}">
        <p14:creationId xmlns:p14="http://schemas.microsoft.com/office/powerpoint/2010/main" val="435857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is HorizonDB Fleet Intelligence, a customer-ready sample for shipment tracking, fleet dispatch, and security operations. The original customer question was practical: show PostGIS running on HorizonDB, then combine location with AI in an application that looks like a real development stack. This demo adds vector retrieval, four-bit spherical quantization, and a tool-driven GPT-5.4 agent without moving operational data into another search store.</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1</a:t>
            </a:fld>
            <a:endParaRPr lang="en-CH"/>
          </a:p>
        </p:txBody>
      </p:sp>
    </p:spTree>
    <p:extLst>
      <p:ext uri="{BB962C8B-B14F-4D97-AF65-F5344CB8AC3E}">
        <p14:creationId xmlns:p14="http://schemas.microsoft.com/office/powerpoint/2010/main" val="509060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We will start with the customer scenario, then map the two application paths and inventory every HorizonDB feature in use. The live walkthrough shows a criteria search, two execution plans, and a prompt-only agent. We finish with a quick code tour and the customer value recap. Every application and plan view comes from the running React and Vite sample against live HorizonDB.</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2</a:t>
            </a:fld>
            <a:endParaRPr lang="en-CH"/>
          </a:p>
        </p:txBody>
      </p:sp>
    </p:spTree>
    <p:extLst>
      <p:ext uri="{BB962C8B-B14F-4D97-AF65-F5344CB8AC3E}">
        <p14:creationId xmlns:p14="http://schemas.microsoft.com/office/powerpoint/2010/main" val="182637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Location alone is not enough for an operations decision. A shipment operator also needs cargo meaning, status, ETA, and current exceptions. The same pattern extends to bus or taxi dispatch, where service intent and proximity matter together, and to security response, where an incident description must be grounded in current position and service area. The sample stays generic for public reuse while directly reflecting those telecom fleet and dispatch scenarios.</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3</a:t>
            </a:fld>
            <a:endParaRPr lang="en-CH"/>
          </a:p>
        </p:txBody>
      </p:sp>
    </p:spTree>
    <p:extLst>
      <p:ext uri="{BB962C8B-B14F-4D97-AF65-F5344CB8AC3E}">
        <p14:creationId xmlns:p14="http://schemas.microsoft.com/office/powerpoint/2010/main" val="157904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interface deliberately separates two kinds of work. On the left, the operator enters a search prompt plus explicit status, ETA, map center, and radius criteria. That deterministic form calls /api/search. On the right, the operator sends only a natural-language question to /api/chat. Microsoft Agent Framework lets GPT-5.4 choose the arguments for one typed search_shipments tool. Both paths call the same asynchronous Psycopg repository, and both return exact rows to the shared list and map. Left-side criteria never leak into the agent request.</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4</a:t>
            </a:fld>
            <a:endParaRPr lang="en-CH"/>
          </a:p>
        </p:txBody>
      </p:sp>
    </p:spTree>
    <p:extLst>
      <p:ext uri="{BB962C8B-B14F-4D97-AF65-F5344CB8AC3E}">
        <p14:creationId xmlns:p14="http://schemas.microsoft.com/office/powerpoint/2010/main" val="391749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Each shipment stores origin, destination, and current position as PostGIS points in SRID 4326, with GiST support and ST_DWithin for radius search. The HorizonDB model registry resolves default-embedding to text-embedding-3-small and default-chat to GPT-5.4. pgvector stores 1,536 dimensions and uses cosine distance. DiskANN is built with spherical quantization enabled, four-bit codes, and 25,000 training samples. Status and ETA B-tree indexes give the PostgreSQL planner selective alternatives. Finally, azure_ai.generate supplies the agent's tool-planning and grounded-answer model turns behind the same database connection.</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5</a:t>
            </a:fld>
            <a:endParaRPr lang="en-CH"/>
          </a:p>
        </p:txBody>
      </p:sp>
    </p:spTree>
    <p:extLst>
      <p:ext uri="{BB962C8B-B14F-4D97-AF65-F5344CB8AC3E}">
        <p14:creationId xmlns:p14="http://schemas.microsoft.com/office/powerpoint/2010/main" val="3835484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Now we move into the running application. The next views show the operator experience and the actual plans captured by EXPLAIN ANALYZE with buffer and write-ahead-log statistics.</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6</a:t>
            </a:fld>
            <a:endParaRPr lang="en-CH"/>
          </a:p>
        </p:txBody>
      </p:sp>
    </p:spTree>
    <p:extLst>
      <p:ext uri="{BB962C8B-B14F-4D97-AF65-F5344CB8AC3E}">
        <p14:creationId xmlns:p14="http://schemas.microsoft.com/office/powerpoint/2010/main" val="1220229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DEMO CUE - Click the large play symbol when you are ready. The 6.6-second silent overview clip stops on the final frame and moves across the criteria workbench, map, and agent panel.</a:t>
            </a:r>
          </a:p>
          <a:p>
            <a:endParaRPr lang="en-US" sz="1400">
              <a:latin typeface="Aptos" panose="020B0004020202020204" pitchFamily="34" charset="0"/>
            </a:endParaRPr>
          </a:p>
          <a:p>
            <a:r>
              <a:rPr lang="en-US" sz="1400">
                <a:latin typeface="Aptos" panose="020B0004020202020204" pitchFamily="34" charset="0"/>
              </a:rPr>
              <a:t>The React and Vite console presents the separation visually. The criteria workbench is on the left, the shared Leaflet map is in the center, and the Agent Framework assistant is on the right. The live header verifies HorizonDB, PostGIS, four-bit spherical-quantized DiskANN, and Agent Framework. Search results from either path replace the shared shipment list and map markers, so evidence stays visible beside the request that produced it.</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7</a:t>
            </a:fld>
            <a:endParaRPr lang="en-CH"/>
          </a:p>
        </p:txBody>
      </p:sp>
    </p:spTree>
    <p:extLst>
      <p:ext uri="{BB962C8B-B14F-4D97-AF65-F5344CB8AC3E}">
        <p14:creationId xmlns:p14="http://schemas.microsoft.com/office/powerpoint/2010/main" val="1022127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DEMO CUE - Click the large play symbol when you are ready. The 10-second silent criteria clip selects a West Africa map center, exception status, a 3,000-kilometer radius, enters the semantic intent, and runs the search.</a:t>
            </a:r>
          </a:p>
          <a:p>
            <a:endParaRPr lang="en-US" sz="1400">
              <a:latin typeface="Aptos" panose="020B0004020202020204" pitchFamily="34" charset="0"/>
            </a:endParaRPr>
          </a:p>
          <a:p>
            <a:r>
              <a:rPr lang="en-US" sz="1400">
                <a:latin typeface="Aptos" panose="020B0004020202020204" pitchFamily="34" charset="0"/>
              </a:rPr>
              <a:t>For the first search, I ask for cold-chain medicine for clinics. I select exception status, center the map near West Africa, and choose a 3,000-kilometer radius. The criteria path returns one precise match: SHIP-0007, Cold-Chain Vaccines, currently near Dakar. PostGIS reports a distance of about 1,372 kilometers. Cosine similarity is 0.56, and the final hybrid score combines semantic relevance with proximity. No chat or model reasoning is needed to interpret these explicit filters.</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8</a:t>
            </a:fld>
            <a:endParaRPr lang="en-CH"/>
          </a:p>
        </p:txBody>
      </p:sp>
    </p:spTree>
    <p:extLst>
      <p:ext uri="{BB962C8B-B14F-4D97-AF65-F5344CB8AC3E}">
        <p14:creationId xmlns:p14="http://schemas.microsoft.com/office/powerpoint/2010/main" val="2652835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DEMO CUE - Click the large play symbol when you are ready. The 8.7-second silent plan clip opens Query and Plan, then points to BitmapAnd and the PostGIS geography GiST index.</a:t>
            </a:r>
          </a:p>
          <a:p>
            <a:endParaRPr lang="en-US" sz="1400">
              <a:latin typeface="Aptos" panose="020B0004020202020204" pitchFamily="34" charset="0"/>
            </a:endParaRPr>
          </a:p>
          <a:p>
            <a:r>
              <a:rPr lang="en-US" sz="1400">
                <a:latin typeface="Aptos" panose="020B0004020202020204" pitchFamily="34" charset="0"/>
              </a:rPr>
              <a:t>The execution plan shows why inspectability matters. This highly selective request does not force a vector index scan. HorizonDB combines the status B-tree and the PostGIS geography GiST index with BitmapAnd, then verifies ST_DWithin. The SQL pane shows every literal, including prompt, status, coordinates, and radius. The planner correctly chooses relational and spatial selectivity for one row, while the outer query still computes the semantic and spatial hybrid score.</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9</a:t>
            </a:fld>
            <a:endParaRPr lang="en-CH"/>
          </a:p>
        </p:txBody>
      </p:sp>
    </p:spTree>
    <p:extLst>
      <p:ext uri="{BB962C8B-B14F-4D97-AF65-F5344CB8AC3E}">
        <p14:creationId xmlns:p14="http://schemas.microsoft.com/office/powerpoint/2010/main" val="3103580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DEMO CUE - Click the large play symbol when you are ready. The 8.3-second silent agent clip compresses the long model wait and shows the prompt-only request, three result cards, and selection of the second card on the map.</a:t>
            </a:r>
          </a:p>
          <a:p>
            <a:endParaRPr lang="en-US" sz="1400">
              <a:latin typeface="Aptos" panose="020B0004020202020204" pitchFamily="34" charset="0"/>
            </a:endParaRPr>
          </a:p>
          <a:p>
            <a:r>
              <a:rPr lang="en-US" sz="1400">
                <a:latin typeface="Aptos" panose="020B0004020202020204" pitchFamily="34" charset="0"/>
              </a:rPr>
              <a:t>Next I clear the left criteria and ask the assistant, "Which delayed shipments need attention?" The captured request body contains only that question. GPT-5.4 chooses delayed as the tool status and rewrites the semantic intent to shipments needing attention. Agent Framework invokes the tool once. It returns three rows: Electric Vehicles, Apparel and Textiles, and Lithium Batteries. Those exact rows appear as cards in the answer, in the left list, and on the map. The Query and Plan button retains this turn's SQL and plan even if another search runs later.</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10</a:t>
            </a:fld>
            <a:endParaRPr lang="en-CH"/>
          </a:p>
        </p:txBody>
      </p:sp>
    </p:spTree>
    <p:extLst>
      <p:ext uri="{BB962C8B-B14F-4D97-AF65-F5344CB8AC3E}">
        <p14:creationId xmlns:p14="http://schemas.microsoft.com/office/powerpoint/2010/main" val="4093333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DEMO CUE - Click the large play symbol when you are ready. The 8.6-second silent agent-plan clip opens the per-answer Query and Plan window and points to DiskANNFilteredScan and the three collected tuple identifiers.</a:t>
            </a:r>
          </a:p>
          <a:p>
            <a:endParaRPr lang="en-US" sz="1400">
              <a:latin typeface="Aptos" panose="020B0004020202020204" pitchFamily="34" charset="0"/>
            </a:endParaRPr>
          </a:p>
          <a:p>
            <a:r>
              <a:rPr lang="en-US" sz="1400">
                <a:latin typeface="Aptos" panose="020B0004020202020204" pitchFamily="34" charset="0"/>
              </a:rPr>
              <a:t>The agent tool's plan provides the vector contrast. Here HorizonDB uses a custom DiskANN filtered scan. Strict iterative search applies the delayed filter and then vector ordering, collecting exactly three tuple identifiers. The query pane exposes the model-selected semantic phrase and the cosine operator. This is the spherical-quantized DiskANN path the customer wanted to see, and it remains fully inspectable rather than hidden behind the generated answer.</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11</a:t>
            </a:fld>
            <a:endParaRPr lang="en-CH"/>
          </a:p>
        </p:txBody>
      </p:sp>
    </p:spTree>
    <p:extLst>
      <p:ext uri="{BB962C8B-B14F-4D97-AF65-F5344CB8AC3E}">
        <p14:creationId xmlns:p14="http://schemas.microsoft.com/office/powerpoint/2010/main" val="1270105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separation begins in the browser and is enforced again by FastAPI. The criteria function posts the prompt, status, ETA window, location, and radius to /api/search. Pydantic checks that location and radius, and date and tolerance, are supplied as pairs. The agent function posts only the question to /api/chat. Its AgentRequest model forbids extra fields, so adding status or map scope produces HTTP 422 before Agent Framework runs. This is not just a visual distinction; it is an application contract tested by the backend suite.</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12</a:t>
            </a:fld>
            <a:endParaRPr lang="en-CH"/>
          </a:p>
        </p:txBody>
      </p:sp>
    </p:spTree>
    <p:extLst>
      <p:ext uri="{BB962C8B-B14F-4D97-AF65-F5344CB8AC3E}">
        <p14:creationId xmlns:p14="http://schemas.microsoft.com/office/powerpoint/2010/main" val="918377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assistant uses Microsoft Agent Framework for a bounded two-turn function loop while model inference stays inside HorizonDB. On the first turn, the custom chat client asks azure_ai.generate for JSON matching the registered tool schema. Agent Framework validates those arguments and invokes search_shipments, which is limited to one call. On the second turn, the model receives only the serialized result rows and writes the grounded answer. The client caps the run at two model iterations and one function call, so the orchestration remains predictable and inspectable.</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13</a:t>
            </a:fld>
            <a:endParaRPr lang="en-CH"/>
          </a:p>
        </p:txBody>
      </p:sp>
    </p:spTree>
    <p:extLst>
      <p:ext uri="{BB962C8B-B14F-4D97-AF65-F5344CB8AC3E}">
        <p14:creationId xmlns:p14="http://schemas.microsoft.com/office/powerpoint/2010/main" val="143731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Both application paths call the same semantic_search repository method. It creates the query embedding in HorizonDB, applies optional status, ETA, and PostGIS radius predicates, preserves cosine ORDER BY plus LIMIT for DiskANN candidate retrieval, and exposes semantic, distance, and hybrid scores. The application does not force an index. For the selective criteria demo, PostgreSQL combines the status B-tree and geography GiST indexes with BitmapAnd. For the agent demo, it chooses DiskANNFilteredScan and collects exactly three tuple identifiers. Every SELECT is explained first, and the response retains the literal SQL and plan that produced its cards.</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14</a:t>
            </a:fld>
            <a:endParaRPr lang="en-CH"/>
          </a:p>
        </p:txBody>
      </p:sp>
    </p:spTree>
    <p:extLst>
      <p:ext uri="{BB962C8B-B14F-4D97-AF65-F5344CB8AC3E}">
        <p14:creationId xmlns:p14="http://schemas.microsoft.com/office/powerpoint/2010/main" val="1163157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setup path makes the sample repeatable. Each row combines business attributes, three PostGIS points, JSON metadata, and a 1,536-dimensional vector. Setup upserts 24 shipments, invalidates embeddings only when semantic fields change, generates missing embeddings in batches inside HorizonDB, and builds DiskANN only when every row is ready. The index enables spherical quantization with four-bit codes and 25,000 training samples. azd up and Bicep provision the native HorizonDB preview cluster and separate API and React Container Apps. Post-deployment health refuses readiness unless GPT-5.4, Agent Framework, and the SQ4 index contract are all present.</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15</a:t>
            </a:fld>
            <a:endParaRPr lang="en-CH"/>
          </a:p>
        </p:txBody>
      </p:sp>
    </p:spTree>
    <p:extLst>
      <p:ext uri="{BB962C8B-B14F-4D97-AF65-F5344CB8AC3E}">
        <p14:creationId xmlns:p14="http://schemas.microsoft.com/office/powerpoint/2010/main" val="3021495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result is one operational database with two trustworthy ways to ask. When operators know the criteria, the left workflow keeps status, time, and geography deterministic. When intent is conversational, GPT-5.4 gets one controlled Agent Framework tool over the same repository. In both cases, rows, scores, SQL literals, and planner decisions remain visible. This pattern starts with shipment tracking and transfers directly to fleet, taxi, bus, and security dispatch without duplicating relational, spatial, vector, and AI data across separate stores.</a:t>
            </a:r>
            <a:endParaRPr lang="en-CH" sz="140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346AD91-B378-4391-BC56-E82DC6506350}" type="slidenum">
              <a:rPr lang="en-CH" smtClean="0"/>
              <a:t>16</a:t>
            </a:fld>
            <a:endParaRPr lang="en-CH"/>
          </a:p>
        </p:txBody>
      </p:sp>
    </p:spTree>
    <p:extLst>
      <p:ext uri="{BB962C8B-B14F-4D97-AF65-F5344CB8AC3E}">
        <p14:creationId xmlns:p14="http://schemas.microsoft.com/office/powerpoint/2010/main" val="2105088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44B58-4974-5AC1-2658-81C3243B16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H"/>
          </a:p>
        </p:txBody>
      </p:sp>
      <p:sp>
        <p:nvSpPr>
          <p:cNvPr id="3" name="Subtitle 2">
            <a:extLst>
              <a:ext uri="{FF2B5EF4-FFF2-40B4-BE49-F238E27FC236}">
                <a16:creationId xmlns:a16="http://schemas.microsoft.com/office/drawing/2014/main" id="{6B31DA0A-3F62-97F2-33B8-B12F4900EB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H"/>
          </a:p>
        </p:txBody>
      </p:sp>
      <p:sp>
        <p:nvSpPr>
          <p:cNvPr id="4" name="Date Placeholder 3">
            <a:extLst>
              <a:ext uri="{FF2B5EF4-FFF2-40B4-BE49-F238E27FC236}">
                <a16:creationId xmlns:a16="http://schemas.microsoft.com/office/drawing/2014/main" id="{F9DF2281-7726-9238-3720-CBEA9A5D88B9}"/>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5" name="Footer Placeholder 4">
            <a:extLst>
              <a:ext uri="{FF2B5EF4-FFF2-40B4-BE49-F238E27FC236}">
                <a16:creationId xmlns:a16="http://schemas.microsoft.com/office/drawing/2014/main" id="{E61D0793-DD60-AECE-0ED9-161545204365}"/>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07395CEE-5A96-859D-BAD0-1D563924157A}"/>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983287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CB246-3D34-03D8-9183-722FF0AEFA07}"/>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38D94F10-8EC2-9958-CEE3-676E736DEF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ABEC04E6-ACCA-2708-7B9D-7FB56CBA435A}"/>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5" name="Footer Placeholder 4">
            <a:extLst>
              <a:ext uri="{FF2B5EF4-FFF2-40B4-BE49-F238E27FC236}">
                <a16:creationId xmlns:a16="http://schemas.microsoft.com/office/drawing/2014/main" id="{0B953493-5A3C-FE2C-CF97-94603D5A6BF7}"/>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81653321-0696-FE99-B043-D0D46242BE4D}"/>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1711300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7B012-F22E-9CC7-ECAC-EF957A2324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H"/>
          </a:p>
        </p:txBody>
      </p:sp>
      <p:sp>
        <p:nvSpPr>
          <p:cNvPr id="3" name="Text Placeholder 2">
            <a:extLst>
              <a:ext uri="{FF2B5EF4-FFF2-40B4-BE49-F238E27FC236}">
                <a16:creationId xmlns:a16="http://schemas.microsoft.com/office/drawing/2014/main" id="{97AE3277-E943-2B9A-70E1-DA848F15C2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F9137D-6306-9427-FAD1-6A80AF621DAE}"/>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5" name="Footer Placeholder 4">
            <a:extLst>
              <a:ext uri="{FF2B5EF4-FFF2-40B4-BE49-F238E27FC236}">
                <a16:creationId xmlns:a16="http://schemas.microsoft.com/office/drawing/2014/main" id="{051B4268-3A0E-673A-821E-8C164EA52971}"/>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D8A39DC4-8DBC-75D9-CF98-9CF2E78EFADF}"/>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1422319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F1163-234B-BB97-2DD7-9A6C1227FBFD}"/>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84FFEEA6-898E-46B3-6099-FA102A635E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E6C90A23-3C35-40CE-21CB-B7BE33E030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7F948946-7596-FB3B-94CC-C0BF6E675A74}"/>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6" name="Footer Placeholder 5">
            <a:extLst>
              <a:ext uri="{FF2B5EF4-FFF2-40B4-BE49-F238E27FC236}">
                <a16:creationId xmlns:a16="http://schemas.microsoft.com/office/drawing/2014/main" id="{CE85DD9E-CDFE-F1F5-D6E0-B808B2F87060}"/>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EA421565-B62A-986A-370A-A5298EC7B2B2}"/>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948440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B8F48-56C2-9296-73C8-022B25C1C337}"/>
              </a:ext>
            </a:extLst>
          </p:cNvPr>
          <p:cNvSpPr>
            <a:spLocks noGrp="1"/>
          </p:cNvSpPr>
          <p:nvPr>
            <p:ph type="title"/>
          </p:nvPr>
        </p:nvSpPr>
        <p:spPr>
          <a:xfrm>
            <a:off x="839788" y="365125"/>
            <a:ext cx="10515600" cy="1325563"/>
          </a:xfrm>
        </p:spPr>
        <p:txBody>
          <a:bodyPr/>
          <a:lstStyle/>
          <a:p>
            <a:r>
              <a:rPr lang="en-US"/>
              <a:t>Click to edit Master title style</a:t>
            </a:r>
            <a:endParaRPr lang="en-CH"/>
          </a:p>
        </p:txBody>
      </p:sp>
      <p:sp>
        <p:nvSpPr>
          <p:cNvPr id="3" name="Text Placeholder 2">
            <a:extLst>
              <a:ext uri="{FF2B5EF4-FFF2-40B4-BE49-F238E27FC236}">
                <a16:creationId xmlns:a16="http://schemas.microsoft.com/office/drawing/2014/main" id="{C0BD3CAC-8F71-A9A1-31BC-808CB69C2D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C1303F-071E-6606-F837-94EAEBA28E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Text Placeholder 4">
            <a:extLst>
              <a:ext uri="{FF2B5EF4-FFF2-40B4-BE49-F238E27FC236}">
                <a16:creationId xmlns:a16="http://schemas.microsoft.com/office/drawing/2014/main" id="{0A9F26BC-3ACD-F550-C0DD-A6F92A8CFB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E9F233-BD08-37F2-A4C4-90AAC42A9B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7" name="Date Placeholder 6">
            <a:extLst>
              <a:ext uri="{FF2B5EF4-FFF2-40B4-BE49-F238E27FC236}">
                <a16:creationId xmlns:a16="http://schemas.microsoft.com/office/drawing/2014/main" id="{EDA8511F-FE0A-437B-619D-F2B84164566C}"/>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8" name="Footer Placeholder 7">
            <a:extLst>
              <a:ext uri="{FF2B5EF4-FFF2-40B4-BE49-F238E27FC236}">
                <a16:creationId xmlns:a16="http://schemas.microsoft.com/office/drawing/2014/main" id="{3F729B32-EE06-2C6D-730A-D6667DD81810}"/>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8868F01C-22B3-F171-8107-D1C4CFC02EF8}"/>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334144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9CBBF-E124-B68B-13A5-98DC5E47DA76}"/>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BFBA2556-B9B3-B3D0-6084-90BF444B6833}"/>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4" name="Footer Placeholder 3">
            <a:extLst>
              <a:ext uri="{FF2B5EF4-FFF2-40B4-BE49-F238E27FC236}">
                <a16:creationId xmlns:a16="http://schemas.microsoft.com/office/drawing/2014/main" id="{D8D96A29-7598-DEE5-0F10-917438593DD4}"/>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8471DEF9-9DEA-F3EE-E640-FEDE4808D817}"/>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304775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4F53B-06BF-21D6-692D-700427570049}"/>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3" name="Footer Placeholder 2">
            <a:extLst>
              <a:ext uri="{FF2B5EF4-FFF2-40B4-BE49-F238E27FC236}">
                <a16:creationId xmlns:a16="http://schemas.microsoft.com/office/drawing/2014/main" id="{7C6EB5CA-212A-0C54-C3C1-AF493438BB6C}"/>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8CB02CCF-16FB-BAE6-675C-8715B0630FE6}"/>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3818304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DC915-AA7B-385F-F1A3-9E7A5496C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Content Placeholder 2">
            <a:extLst>
              <a:ext uri="{FF2B5EF4-FFF2-40B4-BE49-F238E27FC236}">
                <a16:creationId xmlns:a16="http://schemas.microsoft.com/office/drawing/2014/main" id="{E05DED54-E24A-E8F9-BC8A-BD967985EF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Text Placeholder 3">
            <a:extLst>
              <a:ext uri="{FF2B5EF4-FFF2-40B4-BE49-F238E27FC236}">
                <a16:creationId xmlns:a16="http://schemas.microsoft.com/office/drawing/2014/main" id="{20705452-14C1-7842-0B2C-72FFA0C16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920903-646C-E4D0-FB56-8FF0971602F2}"/>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6" name="Footer Placeholder 5">
            <a:extLst>
              <a:ext uri="{FF2B5EF4-FFF2-40B4-BE49-F238E27FC236}">
                <a16:creationId xmlns:a16="http://schemas.microsoft.com/office/drawing/2014/main" id="{F3601B67-2EDC-441A-4DFF-AB8FC5BAE646}"/>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2F1CAA9F-0756-17E2-1769-0520C31B27AA}"/>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571543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0D5CB-A026-F73E-8BBC-C114DA76D0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Picture Placeholder 2">
            <a:extLst>
              <a:ext uri="{FF2B5EF4-FFF2-40B4-BE49-F238E27FC236}">
                <a16:creationId xmlns:a16="http://schemas.microsoft.com/office/drawing/2014/main" id="{83F0811D-FF52-0420-E901-BBACB7BE750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63B50222-A83F-9BAD-4378-E95D7FE43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9069AE-F462-980F-73FB-5ECBF9A08EAD}"/>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6" name="Footer Placeholder 5">
            <a:extLst>
              <a:ext uri="{FF2B5EF4-FFF2-40B4-BE49-F238E27FC236}">
                <a16:creationId xmlns:a16="http://schemas.microsoft.com/office/drawing/2014/main" id="{040B5ABB-9BF1-02A8-4102-A4D1B3D409E9}"/>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5380918E-EC31-5C35-35A3-972264FFF280}"/>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721957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66F7C-E2B6-DE27-876E-E5A8AEA5E5F6}"/>
              </a:ext>
            </a:extLst>
          </p:cNvPr>
          <p:cNvSpPr>
            <a:spLocks noGrp="1"/>
          </p:cNvSpPr>
          <p:nvPr>
            <p:ph type="title"/>
          </p:nvPr>
        </p:nvSpPr>
        <p:spPr/>
        <p:txBody>
          <a:bodyPr/>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ED160007-4C03-85A9-032B-16DE384DCA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9743D31B-131A-1525-AB4E-94E961CC9587}"/>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5" name="Footer Placeholder 4">
            <a:extLst>
              <a:ext uri="{FF2B5EF4-FFF2-40B4-BE49-F238E27FC236}">
                <a16:creationId xmlns:a16="http://schemas.microsoft.com/office/drawing/2014/main" id="{DB3A62C1-898F-C509-647C-E575E32D9FC4}"/>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6EB4024A-099C-FA12-4A1D-28C834BD0B92}"/>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2802821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666B93-8A32-75A3-2DF7-1C099C792B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2DBA5CDB-C2A3-9722-F204-A89B6E1E18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69E6B1E9-F871-9ECE-D267-664981E9EFA4}"/>
              </a:ext>
            </a:extLst>
          </p:cNvPr>
          <p:cNvSpPr>
            <a:spLocks noGrp="1"/>
          </p:cNvSpPr>
          <p:nvPr>
            <p:ph type="dt" sz="half" idx="10"/>
          </p:nvPr>
        </p:nvSpPr>
        <p:spPr/>
        <p:txBody>
          <a:bodyPr/>
          <a:lstStyle/>
          <a:p>
            <a:fld id="{9D72007E-FEF9-45B5-866A-9B5B76F94445}" type="datetimeFigureOut">
              <a:rPr lang="en-CH" smtClean="0"/>
              <a:t>09.09.2026</a:t>
            </a:fld>
            <a:endParaRPr lang="en-CH"/>
          </a:p>
        </p:txBody>
      </p:sp>
      <p:sp>
        <p:nvSpPr>
          <p:cNvPr id="5" name="Footer Placeholder 4">
            <a:extLst>
              <a:ext uri="{FF2B5EF4-FFF2-40B4-BE49-F238E27FC236}">
                <a16:creationId xmlns:a16="http://schemas.microsoft.com/office/drawing/2014/main" id="{645DBC38-B6B7-60D3-0CF1-58FD0103D381}"/>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62B35DFB-39F7-8F8A-8899-B2C1004CB0EE}"/>
              </a:ext>
            </a:extLst>
          </p:cNvPr>
          <p:cNvSpPr>
            <a:spLocks noGrp="1"/>
          </p:cNvSpPr>
          <p:nvPr>
            <p:ph type="sldNum" sz="quarter" idx="12"/>
          </p:nvPr>
        </p:nvSpPr>
        <p:spPr/>
        <p:txBody>
          <a:bodyPr/>
          <a:lstStyle/>
          <a:p>
            <a:fld id="{E680C841-4E84-4D8C-B8FA-95147A5AD7AF}" type="slidenum">
              <a:rPr lang="en-CH" smtClean="0"/>
              <a:t>‹#›</a:t>
            </a:fld>
            <a:endParaRPr lang="en-CH"/>
          </a:p>
        </p:txBody>
      </p:sp>
    </p:spTree>
    <p:extLst>
      <p:ext uri="{BB962C8B-B14F-4D97-AF65-F5344CB8AC3E}">
        <p14:creationId xmlns:p14="http://schemas.microsoft.com/office/powerpoint/2010/main" val="199213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2169D2-08DE-5B85-BB68-651E707F8A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H"/>
          </a:p>
        </p:txBody>
      </p:sp>
      <p:sp>
        <p:nvSpPr>
          <p:cNvPr id="3" name="Text Placeholder 2">
            <a:extLst>
              <a:ext uri="{FF2B5EF4-FFF2-40B4-BE49-F238E27FC236}">
                <a16:creationId xmlns:a16="http://schemas.microsoft.com/office/drawing/2014/main" id="{DD8DD9D9-5F5B-E148-8788-A2D6BEB6EF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96E522D6-BA62-2625-7264-DBDB6279AC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72007E-FEF9-45B5-866A-9B5B76F94445}" type="datetimeFigureOut">
              <a:rPr lang="en-CH" smtClean="0"/>
              <a:t>09.09.2026</a:t>
            </a:fld>
            <a:endParaRPr lang="en-CH"/>
          </a:p>
        </p:txBody>
      </p:sp>
      <p:sp>
        <p:nvSpPr>
          <p:cNvPr id="5" name="Footer Placeholder 4">
            <a:extLst>
              <a:ext uri="{FF2B5EF4-FFF2-40B4-BE49-F238E27FC236}">
                <a16:creationId xmlns:a16="http://schemas.microsoft.com/office/drawing/2014/main" id="{B66A9132-15DE-1FE3-7B8F-625BBED152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3125EDF5-B9BA-D91C-EC6E-6A2FA34C7C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80C841-4E84-4D8C-B8FA-95147A5AD7AF}" type="slidenum">
              <a:rPr lang="en-CH" smtClean="0"/>
              <a:t>‹#›</a:t>
            </a:fld>
            <a:endParaRPr lang="en-CH"/>
          </a:p>
        </p:txBody>
      </p:sp>
    </p:spTree>
    <p:extLst>
      <p:ext uri="{BB962C8B-B14F-4D97-AF65-F5344CB8AC3E}">
        <p14:creationId xmlns:p14="http://schemas.microsoft.com/office/powerpoint/2010/main" val="2698956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video" Target="../media/media1.mp4"/><Relationship Id="rId7" Type="http://schemas.openxmlformats.org/officeDocument/2006/relationships/image" Target="../media/image8.png"/><Relationship Id="rId2" Type="http://schemas.microsoft.com/office/2007/relationships/media" Target="../media/media1.mp4"/><Relationship Id="rId1" Type="http://schemas.openxmlformats.org/officeDocument/2006/relationships/tags" Target="../tags/tag7.xml"/><Relationship Id="rId6" Type="http://schemas.openxmlformats.org/officeDocument/2006/relationships/image" Target="../media/image7.png"/><Relationship Id="rId5" Type="http://schemas.openxmlformats.org/officeDocument/2006/relationships/notesSlide" Target="../notesSlides/notesSlide7.xml"/><Relationship Id="rId4"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video" Target="../media/media2.mp4"/><Relationship Id="rId7" Type="http://schemas.openxmlformats.org/officeDocument/2006/relationships/image" Target="../media/image10.png"/><Relationship Id="rId2" Type="http://schemas.microsoft.com/office/2007/relationships/media" Target="../media/media2.mp4"/><Relationship Id="rId1" Type="http://schemas.openxmlformats.org/officeDocument/2006/relationships/tags" Target="../tags/tag8.xml"/><Relationship Id="rId6" Type="http://schemas.openxmlformats.org/officeDocument/2006/relationships/image" Target="../media/image9.png"/><Relationship Id="rId5" Type="http://schemas.openxmlformats.org/officeDocument/2006/relationships/notesSlide" Target="../notesSlides/notesSlide8.xml"/><Relationship Id="rId4"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video" Target="../media/media3.mp4"/><Relationship Id="rId7" Type="http://schemas.openxmlformats.org/officeDocument/2006/relationships/image" Target="../media/image12.png"/><Relationship Id="rId2" Type="http://schemas.microsoft.com/office/2007/relationships/media" Target="../media/media3.mp4"/><Relationship Id="rId1" Type="http://schemas.openxmlformats.org/officeDocument/2006/relationships/tags" Target="../tags/tag9.xml"/><Relationship Id="rId6" Type="http://schemas.openxmlformats.org/officeDocument/2006/relationships/image" Target="../media/image11.png"/><Relationship Id="rId5" Type="http://schemas.openxmlformats.org/officeDocument/2006/relationships/notesSlide" Target="../notesSlides/notesSlide9.xml"/><Relationship Id="rId4"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video" Target="../media/media4.mp4"/><Relationship Id="rId7" Type="http://schemas.openxmlformats.org/officeDocument/2006/relationships/image" Target="../media/image14.png"/><Relationship Id="rId2" Type="http://schemas.microsoft.com/office/2007/relationships/media" Target="../media/media4.mp4"/><Relationship Id="rId1" Type="http://schemas.openxmlformats.org/officeDocument/2006/relationships/tags" Target="../tags/tag10.xml"/><Relationship Id="rId6" Type="http://schemas.openxmlformats.org/officeDocument/2006/relationships/image" Target="../media/image13.png"/><Relationship Id="rId5" Type="http://schemas.openxmlformats.org/officeDocument/2006/relationships/notesSlide" Target="../notesSlides/notesSlide10.xml"/><Relationship Id="rId4"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video" Target="../media/media5.mp4"/><Relationship Id="rId7" Type="http://schemas.openxmlformats.org/officeDocument/2006/relationships/image" Target="../media/image16.png"/><Relationship Id="rId2" Type="http://schemas.microsoft.com/office/2007/relationships/media" Target="../media/media5.mp4"/><Relationship Id="rId1" Type="http://schemas.openxmlformats.org/officeDocument/2006/relationships/tags" Target="../tags/tag11.xml"/><Relationship Id="rId6" Type="http://schemas.openxmlformats.org/officeDocument/2006/relationships/image" Target="../media/image15.png"/><Relationship Id="rId5" Type="http://schemas.openxmlformats.org/officeDocument/2006/relationships/notesSlide" Target="../notesSlides/notesSlide11.xml"/><Relationship Id="rId4"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3.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4.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5.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6.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1 background" descr="Rendered visual for slide 1: Title and goal">
            <a:extLst>
              <a:ext uri="{FF2B5EF4-FFF2-40B4-BE49-F238E27FC236}">
                <a16:creationId xmlns:a16="http://schemas.microsoft.com/office/drawing/2014/main" id="{A36D434F-B10E-8342-180D-C097B1CDE30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3942367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2 background" descr="Rendered visual for slide 2: Agenda">
            <a:extLst>
              <a:ext uri="{FF2B5EF4-FFF2-40B4-BE49-F238E27FC236}">
                <a16:creationId xmlns:a16="http://schemas.microsoft.com/office/drawing/2014/main" id="{86F04CB6-E9C7-E1D4-B18B-D914DD9B9C3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3194923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3 background" descr="Rendered visual for slide 3: Customer context">
            <a:extLst>
              <a:ext uri="{FF2B5EF4-FFF2-40B4-BE49-F238E27FC236}">
                <a16:creationId xmlns:a16="http://schemas.microsoft.com/office/drawing/2014/main" id="{5A7C2354-343F-AAE7-B0A9-EC4EE9911C7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811713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4 background" descr="Rendered visual for slide 4: Two paths and one repository">
            <a:extLst>
              <a:ext uri="{FF2B5EF4-FFF2-40B4-BE49-F238E27FC236}">
                <a16:creationId xmlns:a16="http://schemas.microsoft.com/office/drawing/2014/main" id="{7B7EE835-8E6D-AFC9-5CB2-2D6DF5F597E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1968293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5 background" descr="Rendered visual for slide 5: HorizonDB feature overview">
            <a:extLst>
              <a:ext uri="{FF2B5EF4-FFF2-40B4-BE49-F238E27FC236}">
                <a16:creationId xmlns:a16="http://schemas.microsoft.com/office/drawing/2014/main" id="{181240CD-0925-81AC-02C9-4588543A23D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183255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6 background" descr="Rendered visual for slide 6: Live application section">
            <a:extLst>
              <a:ext uri="{FF2B5EF4-FFF2-40B4-BE49-F238E27FC236}">
                <a16:creationId xmlns:a16="http://schemas.microsoft.com/office/drawing/2014/main" id="{D2B1594D-0CA7-3A8C-47E1-95FDE6B271C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2447371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7 background" descr="Rendered visual for slide 7: Application overview">
            <a:extLst>
              <a:ext uri="{FF2B5EF4-FFF2-40B4-BE49-F238E27FC236}">
                <a16:creationId xmlns:a16="http://schemas.microsoft.com/office/drawing/2014/main" id="{5C7E3E65-D081-15B1-9557-26F83C17ADA8}"/>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Demo clip 7" descr="Application overview moving from criteria search to map to agent panel">
            <a:hlinkClick r:id="" action="ppaction://media"/>
            <a:extLst>
              <a:ext uri="{FF2B5EF4-FFF2-40B4-BE49-F238E27FC236}">
                <a16:creationId xmlns:a16="http://schemas.microsoft.com/office/drawing/2014/main" id="{E02A9305-A955-CB07-0740-4618A81C7B40}"/>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336550" y="1028700"/>
            <a:ext cx="9461500" cy="5322094"/>
          </a:xfrm>
          <a:prstGeom prst="rect">
            <a:avLst/>
          </a:prstGeom>
        </p:spPr>
      </p:pic>
    </p:spTree>
    <p:custDataLst>
      <p:tags r:id="rId1"/>
    </p:custDataLst>
    <p:extLst>
      <p:ext uri="{BB962C8B-B14F-4D97-AF65-F5344CB8AC3E}">
        <p14:creationId xmlns:p14="http://schemas.microsoft.com/office/powerpoint/2010/main" val="57946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58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8 background" descr="Rendered visual for slide 8: Criteria search">
            <a:extLst>
              <a:ext uri="{FF2B5EF4-FFF2-40B4-BE49-F238E27FC236}">
                <a16:creationId xmlns:a16="http://schemas.microsoft.com/office/drawing/2014/main" id="{BC557705-3AE7-BFB5-4153-4FFBA62F9ABE}"/>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Demo clip 8" descr="Criteria search selecting exception status and a PostGIS radius">
            <a:hlinkClick r:id="" action="ppaction://media"/>
            <a:extLst>
              <a:ext uri="{FF2B5EF4-FFF2-40B4-BE49-F238E27FC236}">
                <a16:creationId xmlns:a16="http://schemas.microsoft.com/office/drawing/2014/main" id="{B9181382-3BD7-BB62-6654-AFDE663BB7E2}"/>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336550" y="1028700"/>
            <a:ext cx="9461500" cy="5322094"/>
          </a:xfrm>
          <a:prstGeom prst="rect">
            <a:avLst/>
          </a:prstGeom>
        </p:spPr>
      </p:pic>
    </p:spTree>
    <p:custDataLst>
      <p:tags r:id="rId1"/>
    </p:custDataLst>
    <p:extLst>
      <p:ext uri="{BB962C8B-B14F-4D97-AF65-F5344CB8AC3E}">
        <p14:creationId xmlns:p14="http://schemas.microsoft.com/office/powerpoint/2010/main" val="48688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9 background" descr="Rendered visual for slide 9: Criteria execution plan">
            <a:extLst>
              <a:ext uri="{FF2B5EF4-FFF2-40B4-BE49-F238E27FC236}">
                <a16:creationId xmlns:a16="http://schemas.microsoft.com/office/drawing/2014/main" id="{F8382FC9-5931-1805-324E-00134E27A54A}"/>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Demo clip 9" descr="Execution plan showing BitmapAnd with status and geography indexes">
            <a:hlinkClick r:id="" action="ppaction://media"/>
            <a:extLst>
              <a:ext uri="{FF2B5EF4-FFF2-40B4-BE49-F238E27FC236}">
                <a16:creationId xmlns:a16="http://schemas.microsoft.com/office/drawing/2014/main" id="{3F154F11-B9CD-35F6-9A19-7020BE5EC58B}"/>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336550" y="1028700"/>
            <a:ext cx="9461500" cy="5322094"/>
          </a:xfrm>
          <a:prstGeom prst="rect">
            <a:avLst/>
          </a:prstGeom>
        </p:spPr>
      </p:pic>
    </p:spTree>
    <p:custDataLst>
      <p:tags r:id="rId1"/>
    </p:custDataLst>
    <p:extLst>
      <p:ext uri="{BB962C8B-B14F-4D97-AF65-F5344CB8AC3E}">
        <p14:creationId xmlns:p14="http://schemas.microsoft.com/office/powerpoint/2010/main" val="313037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6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10 background" descr="Rendered visual for slide 10: Agent search">
            <a:extLst>
              <a:ext uri="{FF2B5EF4-FFF2-40B4-BE49-F238E27FC236}">
                <a16:creationId xmlns:a16="http://schemas.microsoft.com/office/drawing/2014/main" id="{C6F4F932-0DC3-CEAD-B42C-B5D89CBF92C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Demo clip 10" descr="Agent Framework search returning three shipment cards">
            <a:hlinkClick r:id="" action="ppaction://media"/>
            <a:extLst>
              <a:ext uri="{FF2B5EF4-FFF2-40B4-BE49-F238E27FC236}">
                <a16:creationId xmlns:a16="http://schemas.microsoft.com/office/drawing/2014/main" id="{B22E89C8-82BC-3516-C68E-F04D09C74F65}"/>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336550" y="1028700"/>
            <a:ext cx="9461500" cy="5322094"/>
          </a:xfrm>
          <a:prstGeom prst="rect">
            <a:avLst/>
          </a:prstGeom>
        </p:spPr>
      </p:pic>
    </p:spTree>
    <p:custDataLst>
      <p:tags r:id="rId1"/>
    </p:custDataLst>
    <p:extLst>
      <p:ext uri="{BB962C8B-B14F-4D97-AF65-F5344CB8AC3E}">
        <p14:creationId xmlns:p14="http://schemas.microsoft.com/office/powerpoint/2010/main" val="347930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3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11 background" descr="Rendered visual for slide 11: Agent execution plan">
            <a:extLst>
              <a:ext uri="{FF2B5EF4-FFF2-40B4-BE49-F238E27FC236}">
                <a16:creationId xmlns:a16="http://schemas.microsoft.com/office/drawing/2014/main" id="{B3063EB6-0F16-6E93-0855-F9AEF34E2EC3}"/>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Demo clip 11" descr="Agent query plan showing DiskANNFilteredScan and three collected TIDs">
            <a:hlinkClick r:id="" action="ppaction://media"/>
            <a:extLst>
              <a:ext uri="{FF2B5EF4-FFF2-40B4-BE49-F238E27FC236}">
                <a16:creationId xmlns:a16="http://schemas.microsoft.com/office/drawing/2014/main" id="{49BD8202-59A0-3068-368C-D63AF1E92C32}"/>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336550" y="1028700"/>
            <a:ext cx="9461500" cy="5322094"/>
          </a:xfrm>
          <a:prstGeom prst="rect">
            <a:avLst/>
          </a:prstGeom>
        </p:spPr>
      </p:pic>
    </p:spTree>
    <p:custDataLst>
      <p:tags r:id="rId1"/>
    </p:custDataLst>
    <p:extLst>
      <p:ext uri="{BB962C8B-B14F-4D97-AF65-F5344CB8AC3E}">
        <p14:creationId xmlns:p14="http://schemas.microsoft.com/office/powerpoint/2010/main" val="566171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58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12 background" descr="Rendered visual for slide 12: Two enforceable request contracts">
            <a:extLst>
              <a:ext uri="{FF2B5EF4-FFF2-40B4-BE49-F238E27FC236}">
                <a16:creationId xmlns:a16="http://schemas.microsoft.com/office/drawing/2014/main" id="{6EF19E40-441B-868F-C135-6A749A1CB0B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2773196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13 background" descr="Rendered visual for slide 13: Agent Framework tool loop">
            <a:extLst>
              <a:ext uri="{FF2B5EF4-FFF2-40B4-BE49-F238E27FC236}">
                <a16:creationId xmlns:a16="http://schemas.microsoft.com/office/drawing/2014/main" id="{9ADCCF6A-CD96-8257-F4B6-A7FB1D89E09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2983759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14 background" descr="Rendered visual for slide 14: Shared hybrid query and planner choices">
            <a:extLst>
              <a:ext uri="{FF2B5EF4-FFF2-40B4-BE49-F238E27FC236}">
                <a16:creationId xmlns:a16="http://schemas.microsoft.com/office/drawing/2014/main" id="{750721F5-ECCB-2807-FA75-4DD813FEE7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3795601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15 background" descr="Rendered visual for slide 15: Idempotent setup and Azure deployment">
            <a:extLst>
              <a:ext uri="{FF2B5EF4-FFF2-40B4-BE49-F238E27FC236}">
                <a16:creationId xmlns:a16="http://schemas.microsoft.com/office/drawing/2014/main" id="{EA79521E-1854-2D5E-17C9-05C12106256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2062374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16 background" descr="Rendered visual for slide 16: Customer recap">
            <a:extLst>
              <a:ext uri="{FF2B5EF4-FFF2-40B4-BE49-F238E27FC236}">
                <a16:creationId xmlns:a16="http://schemas.microsoft.com/office/drawing/2014/main" id="{948E4320-51D2-6BFA-9D55-3931A553F39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12522823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Title and goal"/>
</p:tagLst>
</file>

<file path=ppt/tags/tag2.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Agenda"/>
</p:tagLst>
</file>

<file path=ppt/tags/tag3.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Customer context"/>
</p:tagLst>
</file>

<file path=ppt/tags/tag4.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Two paths and one repository"/>
</p:tagLst>
</file>

<file path=ppt/tags/tag5.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HorizonDB feature overview"/>
</p:tagLst>
</file>

<file path=ppt/tags/tag6.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Live application section"/>
</p:tagLst>
</file>

<file path=ppt/tags/tag7.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Application overview"/>
</p:tagLst>
</file>

<file path=ppt/tags/tag8.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Criteria search"/>
</p:tagLst>
</file>

<file path=ppt/tags/tag9.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Criteria execution plan"/>
</p:tagLst>
</file>

<file path=ppt/tags/tag10.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Agent search"/>
</p:tagLst>
</file>

<file path=ppt/tags/tag11.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Agent execution plan"/>
</p:tagLst>
</file>

<file path=ppt/tags/tag12.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Two enforceable request contracts"/>
</p:tagLst>
</file>

<file path=ppt/tags/tag13.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Agent Framework tool loop"/>
</p:tagLst>
</file>

<file path=ppt/tags/tag14.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Shared hybrid query and planner choices"/>
</p:tagLst>
</file>

<file path=ppt/tags/tag15.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Idempotent setup and Azure deployment"/>
</p:tagLst>
</file>

<file path=ppt/tags/tag16.xml><?xml version="1.0" encoding="utf-8"?>
<p:tagLst xmlns:a="http://schemas.openxmlformats.org/drawingml/2006/main" xmlns:r="http://schemas.openxmlformats.org/officeDocument/2006/relationships" xmlns:p="http://schemas.openxmlformats.org/presentationml/2006/main">
  <p:tag name="PRESENTERNOTESSOURCE" val="demo/presenter-notes.md"/>
  <p:tag name="SCENETITLE" val="Customer recap"/>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1611</Words>
  <Application>Microsoft Office PowerPoint</Application>
  <PresentationFormat>Custom</PresentationFormat>
  <Paragraphs>42</Paragraphs>
  <Slides>16</Slides>
  <Notes>16</Notes>
  <HiddenSlides>0</HiddenSlides>
  <MMClips>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Franck Pachot</dc:creator>
  <cp:lastModifiedBy>Franck Pachot</cp:lastModifiedBy>
  <cp:revision>1</cp:revision>
  <dcterms:created xsi:type="dcterms:W3CDTF">2026-09-09T14:01:40Z</dcterms:created>
  <dcterms:modified xsi:type="dcterms:W3CDTF">2026-09-09T14:01:42Z</dcterms:modified>
</cp:coreProperties>
</file>